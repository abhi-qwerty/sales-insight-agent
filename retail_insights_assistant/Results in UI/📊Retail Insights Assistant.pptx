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1142" y="-257015"/>
            <a:ext cx="6253317" cy="3686015"/>
          </a:xfrm>
        </p:spPr>
        <p:txBody>
          <a:bodyPr>
            <a:normAutofit/>
          </a:bodyPr>
          <a:lstStyle/>
          <a:p>
            <a:r>
              <a:rPr lang="en-IN" dirty="0"/>
              <a:t>📊Retail Insights Assistant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2354" y="3477427"/>
            <a:ext cx="6269347" cy="1021498"/>
          </a:xfrm>
        </p:spPr>
        <p:txBody>
          <a:bodyPr>
            <a:normAutofit/>
          </a:bodyPr>
          <a:lstStyle/>
          <a:p>
            <a:r>
              <a:rPr lang="en-IN" dirty="0"/>
              <a:t>Scalable GenAI-Powered Analytics System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95B0B7F-EB68-B1C6-50B3-4EC9E7C495AF}"/>
              </a:ext>
            </a:extLst>
          </p:cNvPr>
          <p:cNvSpPr txBox="1"/>
          <p:nvPr/>
        </p:nvSpPr>
        <p:spPr>
          <a:xfrm>
            <a:off x="5191142" y="4690861"/>
            <a:ext cx="47776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Focus Areas</a:t>
            </a:r>
            <a:endParaRPr lang="en-IN" sz="1200" dirty="0"/>
          </a:p>
          <a:p>
            <a:r>
              <a:rPr lang="en-IN" sz="1200" dirty="0"/>
              <a:t>Natural Language → SQL Analytics</a:t>
            </a:r>
          </a:p>
          <a:p>
            <a:r>
              <a:rPr lang="en-IN" sz="1200" dirty="0"/>
              <a:t>Enterprise-scale (100GB+)</a:t>
            </a:r>
          </a:p>
          <a:p>
            <a:r>
              <a:rPr lang="en-IN" sz="1200" dirty="0"/>
              <a:t>Low latency &amp; zero hallucination</a:t>
            </a:r>
          </a:p>
          <a:p>
            <a:r>
              <a:rPr lang="en-IN" sz="1200" b="1" dirty="0"/>
              <a:t>Tech Stack</a:t>
            </a:r>
            <a:br>
              <a:rPr lang="en-IN" sz="1200" dirty="0"/>
            </a:br>
            <a:r>
              <a:rPr lang="en-IN" sz="1200" dirty="0"/>
              <a:t>LangGraph • LLMs • Cloud Warehousing • Metadata RAG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6005"/>
            <a:ext cx="11725835" cy="3524061"/>
          </a:xfrm>
        </p:spPr>
        <p:txBody>
          <a:bodyPr anchor="ctr">
            <a:normAutofit/>
          </a:bodyPr>
          <a:lstStyle/>
          <a:p>
            <a:pPr lvl="0"/>
            <a:r>
              <a:rPr lang="en-IN" sz="4800" dirty="0"/>
              <a:t>🎯 Goal : </a:t>
            </a:r>
            <a:r>
              <a:rPr lang="en-US" sz="4800" dirty="0"/>
              <a:t>Enable </a:t>
            </a:r>
            <a:r>
              <a:rPr lang="en-US" sz="4800" b="1" dirty="0"/>
              <a:t>natural language querying on enterprise-scale datasets (100GB+)</a:t>
            </a:r>
            <a:br>
              <a:rPr lang="en-US" sz="4800" dirty="0"/>
            </a:br>
            <a:r>
              <a:rPr lang="en-US" sz="4800" dirty="0"/>
              <a:t>without:</a:t>
            </a:r>
            <a:endParaRPr lang="en-US" sz="4800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066397"/>
            <a:ext cx="10482920" cy="1434944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highlight>
                  <a:srgbClr val="C0C0C0"/>
                </a:highlight>
              </a:rPr>
              <a:t>1-&gt; Performance degradation</a:t>
            </a:r>
          </a:p>
          <a:p>
            <a:r>
              <a:rPr lang="en-IN" dirty="0">
                <a:highlight>
                  <a:srgbClr val="C0C0C0"/>
                </a:highlight>
              </a:rPr>
              <a:t>2-&gt; Data hallucinations</a:t>
            </a:r>
          </a:p>
          <a:p>
            <a:r>
              <a:rPr lang="en-IN" dirty="0">
                <a:highlight>
                  <a:srgbClr val="C0C0C0"/>
                </a:highlight>
              </a:rPr>
              <a:t>3-&gt; Excessive LLM cost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70FDC-18CF-9618-9FE8-109BEC29306B}"/>
              </a:ext>
            </a:extLst>
          </p:cNvPr>
          <p:cNvSpPr txBox="1"/>
          <p:nvPr/>
        </p:nvSpPr>
        <p:spPr>
          <a:xfrm>
            <a:off x="85164" y="5281083"/>
            <a:ext cx="5069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💡 Key Innovation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DDFB8-9CDE-4883-30BE-C7B54D2E0F16}"/>
              </a:ext>
            </a:extLst>
          </p:cNvPr>
          <p:cNvSpPr txBox="1"/>
          <p:nvPr/>
        </p:nvSpPr>
        <p:spPr>
          <a:xfrm>
            <a:off x="134470" y="5746376"/>
            <a:ext cx="9421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Text-to-SQL + Metadata RAG</a:t>
            </a:r>
            <a:br>
              <a:rPr 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LLMs reason over schemas — 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not raw data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84B2A-8524-75A5-00B2-B4CFB22C97D9}"/>
              </a:ext>
            </a:extLst>
          </p:cNvPr>
          <p:cNvSpPr txBox="1"/>
          <p:nvPr/>
        </p:nvSpPr>
        <p:spPr>
          <a:xfrm>
            <a:off x="6485640" y="5158599"/>
            <a:ext cx="50695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LLM </a:t>
            </a:r>
            <a:r>
              <a:rPr lang="en-US" b="1" dirty="0">
                <a:solidFill>
                  <a:schemeClr val="bg1"/>
                </a:solidFill>
              </a:rPr>
              <a:t>never reads raw data</a:t>
            </a:r>
            <a:r>
              <a:rPr lang="en-US" dirty="0">
                <a:solidFill>
                  <a:schemeClr val="bg1"/>
                </a:solidFill>
              </a:rPr>
              <a:t> — it:</a:t>
            </a:r>
          </a:p>
          <a:p>
            <a:r>
              <a:rPr lang="en-US" dirty="0">
                <a:solidFill>
                  <a:schemeClr val="bg1"/>
                </a:solidFill>
              </a:rPr>
              <a:t>1-Understands schemas</a:t>
            </a:r>
          </a:p>
          <a:p>
            <a:r>
              <a:rPr lang="en-US" dirty="0">
                <a:solidFill>
                  <a:schemeClr val="bg1"/>
                </a:solidFill>
              </a:rPr>
              <a:t>2-Generates SQL</a:t>
            </a:r>
          </a:p>
          <a:p>
            <a:r>
              <a:rPr lang="en-US" dirty="0">
                <a:solidFill>
                  <a:schemeClr val="bg1"/>
                </a:solidFill>
              </a:rPr>
              <a:t>3-Delegates computation to the warehouse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B794A-7AF2-2DC5-EF0A-CB56DDD2E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AA75B-1139-71D2-A7E4-AC403C99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6005"/>
            <a:ext cx="11725835" cy="3524061"/>
          </a:xfrm>
        </p:spPr>
        <p:txBody>
          <a:bodyPr anchor="ctr">
            <a:normAutofit/>
          </a:bodyPr>
          <a:lstStyle/>
          <a:p>
            <a:pPr lvl="0"/>
            <a:r>
              <a:rPr lang="en-IN" sz="4800" dirty="0"/>
              <a:t>🚫 Why Traditional Approaches Fail:</a:t>
            </a:r>
            <a:br>
              <a:rPr lang="en-IN" sz="4800" dirty="0"/>
            </a:br>
            <a:r>
              <a:rPr lang="en-IN" sz="4800" dirty="0"/>
              <a:t>MVP Limitations (Pandas / Local Processing)</a:t>
            </a:r>
            <a:endParaRPr lang="en-US" sz="4800" i="1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2FA96E-EE58-DE07-B9E1-992C70652BFA}"/>
              </a:ext>
            </a:extLst>
          </p:cNvPr>
          <p:cNvSpPr txBox="1"/>
          <p:nvPr/>
        </p:nvSpPr>
        <p:spPr>
          <a:xfrm>
            <a:off x="0" y="4638485"/>
            <a:ext cx="5069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✅ Conclusion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5F040-A88C-CFEC-7555-DE274BC14F1D}"/>
              </a:ext>
            </a:extLst>
          </p:cNvPr>
          <p:cNvSpPr txBox="1"/>
          <p:nvPr/>
        </p:nvSpPr>
        <p:spPr>
          <a:xfrm>
            <a:off x="0" y="5145740"/>
            <a:ext cx="942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Enterprise-scale analytics </a:t>
            </a:r>
            <a:r>
              <a:rPr lang="en-IN" b="1" dirty="0"/>
              <a:t>require cloud-native architecture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728D732-3140-4995-337D-954F40168C1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3067050"/>
            <a:ext cx="10482263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 constraints at 100GB+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 full-table scans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parallel compute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cost efficiency</a:t>
            </a:r>
          </a:p>
        </p:txBody>
      </p:sp>
    </p:spTree>
    <p:extLst>
      <p:ext uri="{BB962C8B-B14F-4D97-AF65-F5344CB8AC3E}">
        <p14:creationId xmlns:p14="http://schemas.microsoft.com/office/powerpoint/2010/main" val="1292210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40ED5-33F7-20BC-C8DB-2192654E5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17B72-1230-BEAB-C47A-F9CCBA34C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814026"/>
            <a:ext cx="11725835" cy="3524061"/>
          </a:xfrm>
        </p:spPr>
        <p:txBody>
          <a:bodyPr anchor="ctr">
            <a:normAutofit/>
          </a:bodyPr>
          <a:lstStyle/>
          <a:p>
            <a:pPr lvl="0"/>
            <a:r>
              <a:rPr lang="en-IN" sz="4800" dirty="0"/>
              <a:t>🏗️ High-Level Architecture: System Flow-&gt;</a:t>
            </a:r>
            <a:endParaRPr lang="en-US" sz="4800" i="1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3CBE2B-58AB-9A78-AA96-976F511A2A36}"/>
              </a:ext>
            </a:extLst>
          </p:cNvPr>
          <p:cNvSpPr txBox="1"/>
          <p:nvPr/>
        </p:nvSpPr>
        <p:spPr>
          <a:xfrm>
            <a:off x="0" y="4620556"/>
            <a:ext cx="78799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🔍 Key Principle:</a:t>
            </a:r>
          </a:p>
          <a:p>
            <a:endParaRPr lang="en-IN" dirty="0"/>
          </a:p>
          <a:p>
            <a:r>
              <a:rPr lang="en-IN" sz="1600" dirty="0"/>
              <a:t>1- &gt; LLM handles reasoning.</a:t>
            </a:r>
          </a:p>
          <a:p>
            <a:r>
              <a:rPr lang="en-IN" sz="1600" dirty="0"/>
              <a:t>2-&gt; Warehouse handles computation.</a:t>
            </a:r>
          </a:p>
          <a:p>
            <a:r>
              <a:rPr lang="en-IN" sz="1600" dirty="0"/>
              <a:t>3-&gt; Zero data exposure to LLM.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9617C2C-325D-6283-EA30-A244F43B5D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931459" y="1001298"/>
            <a:ext cx="506954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cap="none" dirty="0">
                <a:latin typeface="Arial" panose="020B0604020202020204" pitchFamily="34" charset="0"/>
              </a:rPr>
              <a:t>User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cap="none" dirty="0">
                <a:latin typeface="Arial" panose="020B0604020202020204" pitchFamily="34" charset="0"/>
              </a:rPr>
              <a:t> ↓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cap="none" dirty="0">
                <a:latin typeface="Arial" panose="020B0604020202020204" pitchFamily="34" charset="0"/>
              </a:rPr>
              <a:t>UI (</a:t>
            </a:r>
            <a:r>
              <a:rPr lang="en-US" altLang="en-US" sz="1800" cap="none" dirty="0" err="1">
                <a:latin typeface="Arial" panose="020B0604020202020204" pitchFamily="34" charset="0"/>
              </a:rPr>
              <a:t>Streamlit</a:t>
            </a:r>
            <a:r>
              <a:rPr lang="en-US" altLang="en-US" sz="1800" cap="none" dirty="0">
                <a:latin typeface="Arial" panose="020B0604020202020204" pitchFamily="34" charset="0"/>
              </a:rPr>
              <a:t> / React)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cap="none" dirty="0">
                <a:latin typeface="Arial" panose="020B0604020202020204" pitchFamily="34" charset="0"/>
              </a:rPr>
              <a:t> ↓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cap="none" dirty="0">
                <a:latin typeface="Arial" panose="020B0604020202020204" pitchFamily="34" charset="0"/>
              </a:rPr>
              <a:t>LangGraph Orchestrator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cap="none" dirty="0">
                <a:latin typeface="Arial" panose="020B0604020202020204" pitchFamily="34" charset="0"/>
              </a:rPr>
              <a:t> ↓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cap="none" dirty="0">
                <a:latin typeface="Arial" panose="020B0604020202020204" pitchFamily="34" charset="0"/>
              </a:rPr>
              <a:t>Metadata Retrieval (FAISS)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cap="none" dirty="0">
                <a:latin typeface="Arial" panose="020B0604020202020204" pitchFamily="34" charset="0"/>
              </a:rPr>
              <a:t> ↓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cap="none" dirty="0">
                <a:latin typeface="Arial" panose="020B0604020202020204" pitchFamily="34" charset="0"/>
              </a:rPr>
              <a:t>LLM (Text → SQL)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cap="none" dirty="0">
                <a:latin typeface="Arial" panose="020B0604020202020204" pitchFamily="34" charset="0"/>
              </a:rPr>
              <a:t> ↓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cap="none" dirty="0">
                <a:latin typeface="Arial" panose="020B0604020202020204" pitchFamily="34" charset="0"/>
              </a:rPr>
              <a:t>Cloud Warehouse (</a:t>
            </a:r>
            <a:r>
              <a:rPr lang="en-US" altLang="en-US" sz="1800" cap="none" dirty="0" err="1">
                <a:latin typeface="Arial" panose="020B0604020202020204" pitchFamily="34" charset="0"/>
              </a:rPr>
              <a:t>BigQuery</a:t>
            </a:r>
            <a:r>
              <a:rPr lang="en-US" altLang="en-US" sz="1800" cap="none" dirty="0">
                <a:latin typeface="Arial" panose="020B0604020202020204" pitchFamily="34" charset="0"/>
              </a:rPr>
              <a:t> / Snowflake)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662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7475D-F0B0-60A3-0013-2C3F006E0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365" y="224118"/>
            <a:ext cx="10588033" cy="1450757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Proposed Technology Stack</a:t>
            </a:r>
            <a:br>
              <a:rPr lang="en-IN" dirty="0"/>
            </a:br>
            <a:br>
              <a:rPr lang="en-IN" dirty="0"/>
            </a:br>
            <a:r>
              <a:rPr lang="en-IN" sz="3200" dirty="0"/>
              <a:t>🧱 Architecture Stack: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7E467-CA16-73D0-E1A3-FDD22EF23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Layer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3BDE06C-43AA-3317-2164-4D13F2CE495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21121684"/>
              </p:ext>
            </p:extLst>
          </p:nvPr>
        </p:nvGraphicFramePr>
        <p:xfrm>
          <a:off x="1249360" y="2057400"/>
          <a:ext cx="10135816" cy="4002740"/>
        </p:xfrm>
        <a:graphic>
          <a:graphicData uri="http://schemas.openxmlformats.org/drawingml/2006/table">
            <a:tbl>
              <a:tblPr/>
              <a:tblGrid>
                <a:gridCol w="5067908">
                  <a:extLst>
                    <a:ext uri="{9D8B030D-6E8A-4147-A177-3AD203B41FA5}">
                      <a16:colId xmlns:a16="http://schemas.microsoft.com/office/drawing/2014/main" val="877533476"/>
                    </a:ext>
                  </a:extLst>
                </a:gridCol>
                <a:gridCol w="5067908">
                  <a:extLst>
                    <a:ext uri="{9D8B030D-6E8A-4147-A177-3AD203B41FA5}">
                      <a16:colId xmlns:a16="http://schemas.microsoft.com/office/drawing/2014/main" val="3709064862"/>
                    </a:ext>
                  </a:extLst>
                </a:gridCol>
              </a:tblGrid>
              <a:tr h="5718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 dirty="0"/>
                    </a:p>
                  </a:txBody>
                  <a:tcPr marL="42184" marR="42184" marT="21092" marB="210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 dirty="0"/>
                    </a:p>
                  </a:txBody>
                  <a:tcPr marL="42184" marR="42184" marT="21092" marB="210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783240"/>
                  </a:ext>
                </a:extLst>
              </a:tr>
              <a:tr h="571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Frontend</a:t>
                      </a:r>
                    </a:p>
                  </a:txBody>
                  <a:tcPr marL="42184" marR="42184" marT="21092" marB="210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Streamlit</a:t>
                      </a:r>
                      <a:r>
                        <a:rPr lang="en-IN" sz="1600" dirty="0"/>
                        <a:t> / React</a:t>
                      </a:r>
                    </a:p>
                  </a:txBody>
                  <a:tcPr marL="42184" marR="42184" marT="21092" marB="210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00217"/>
                  </a:ext>
                </a:extLst>
              </a:tr>
              <a:tr h="571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Orchestration</a:t>
                      </a:r>
                    </a:p>
                  </a:txBody>
                  <a:tcPr marL="42184" marR="42184" marT="21092" marB="210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LangGraph</a:t>
                      </a:r>
                    </a:p>
                  </a:txBody>
                  <a:tcPr marL="42184" marR="42184" marT="21092" marB="210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899421"/>
                  </a:ext>
                </a:extLst>
              </a:tr>
              <a:tr h="571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LLM</a:t>
                      </a:r>
                    </a:p>
                  </a:txBody>
                  <a:tcPr marL="42184" marR="42184" marT="21092" marB="210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GPT-5 / Gemini 2.5 Pro</a:t>
                      </a:r>
                    </a:p>
                  </a:txBody>
                  <a:tcPr marL="42184" marR="42184" marT="21092" marB="210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248081"/>
                  </a:ext>
                </a:extLst>
              </a:tr>
              <a:tr h="571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Metadata Store</a:t>
                      </a:r>
                    </a:p>
                  </a:txBody>
                  <a:tcPr marL="42184" marR="42184" marT="21092" marB="210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FAISS</a:t>
                      </a:r>
                    </a:p>
                  </a:txBody>
                  <a:tcPr marL="42184" marR="42184" marT="21092" marB="210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841820"/>
                  </a:ext>
                </a:extLst>
              </a:tr>
              <a:tr h="571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Compute</a:t>
                      </a:r>
                    </a:p>
                  </a:txBody>
                  <a:tcPr marL="42184" marR="42184" marT="21092" marB="210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BigQuery</a:t>
                      </a:r>
                      <a:r>
                        <a:rPr lang="en-IN" sz="1600" dirty="0"/>
                        <a:t> / Snowflake</a:t>
                      </a:r>
                    </a:p>
                  </a:txBody>
                  <a:tcPr marL="42184" marR="42184" marT="21092" marB="210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257335"/>
                  </a:ext>
                </a:extLst>
              </a:tr>
              <a:tr h="571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Storage</a:t>
                      </a:r>
                    </a:p>
                  </a:txBody>
                  <a:tcPr marL="42184" marR="42184" marT="21092" marB="210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S3 / GCS</a:t>
                      </a:r>
                    </a:p>
                  </a:txBody>
                  <a:tcPr marL="42184" marR="42184" marT="21092" marB="210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894156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F32D9B-D74B-075F-F63B-05157DBECF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7398" y="2072023"/>
            <a:ext cx="4639736" cy="736282"/>
          </a:xfrm>
        </p:spPr>
        <p:txBody>
          <a:bodyPr/>
          <a:lstStyle/>
          <a:p>
            <a:r>
              <a:rPr lang="en-IN" dirty="0"/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240347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4B49F-AEFF-F7A8-5AB4-78BAE20CD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B911A-3C70-BC68-3A55-D2A418A4B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2" y="-1270028"/>
            <a:ext cx="11725835" cy="3524061"/>
          </a:xfrm>
        </p:spPr>
        <p:txBody>
          <a:bodyPr anchor="ctr">
            <a:normAutofit/>
          </a:bodyPr>
          <a:lstStyle/>
          <a:p>
            <a:pPr lvl="0"/>
            <a:r>
              <a:rPr lang="en-IN" sz="4800" dirty="0"/>
              <a:t>           Core Technical Solution</a:t>
            </a:r>
            <a:endParaRPr lang="en-US" sz="4800" i="1" dirty="0">
              <a:solidFill>
                <a:srgbClr val="FFFFF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301C525-5AE0-5622-C16E-B299D2A81B0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55661" y="1330690"/>
            <a:ext cx="5002455" cy="2636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    🔧 Design Philosophy</a:t>
            </a:r>
          </a:p>
          <a:p>
            <a:r>
              <a:rPr lang="en-US" sz="1800" b="1" dirty="0"/>
              <a:t>ELT over ETL</a:t>
            </a:r>
            <a:endParaRPr lang="en-US" sz="1800" dirty="0"/>
          </a:p>
          <a:p>
            <a:r>
              <a:rPr lang="en-US" sz="1800" dirty="0"/>
              <a:t>Extract → Load raw data</a:t>
            </a:r>
          </a:p>
          <a:p>
            <a:r>
              <a:rPr lang="en-US" sz="1800" dirty="0"/>
              <a:t>Transform </a:t>
            </a:r>
            <a:r>
              <a:rPr lang="en-US" sz="1800" i="1" dirty="0"/>
              <a:t>inside</a:t>
            </a:r>
            <a:r>
              <a:rPr lang="en-US" sz="1800" dirty="0"/>
              <a:t> the warehouse</a:t>
            </a:r>
          </a:p>
          <a:p>
            <a:r>
              <a:rPr lang="en-US" sz="1800" dirty="0"/>
              <a:t>Minimize data movement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CF757-1DD6-05F9-50AD-19841E058E9E}"/>
              </a:ext>
            </a:extLst>
          </p:cNvPr>
          <p:cNvSpPr txBox="1"/>
          <p:nvPr/>
        </p:nvSpPr>
        <p:spPr>
          <a:xfrm>
            <a:off x="6813175" y="1568825"/>
            <a:ext cx="44285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/>
              <a:t>Data Engineering &amp; Preprocessing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Data Engineering Strategy</a:t>
            </a:r>
          </a:p>
          <a:p>
            <a:pPr>
              <a:buNone/>
            </a:pPr>
            <a:r>
              <a:rPr lang="en-IN" b="1" dirty="0"/>
              <a:t>ELT Pipeline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Extract raw data (CSV / ERP / POS)</a:t>
            </a:r>
          </a:p>
          <a:p>
            <a:pPr>
              <a:buFont typeface="+mj-lt"/>
              <a:buAutoNum type="arabicPeriod"/>
            </a:pPr>
            <a:r>
              <a:rPr lang="en-IN" dirty="0"/>
              <a:t>Load into Cloud Storage (S3 / GCS)</a:t>
            </a:r>
          </a:p>
          <a:p>
            <a:pPr>
              <a:buFont typeface="+mj-lt"/>
              <a:buAutoNum type="arabicPeriod"/>
            </a:pPr>
            <a:r>
              <a:rPr lang="en-IN" dirty="0"/>
              <a:t>Transform using DBT in warehouse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4164E3-FBE6-5BB4-E509-8879AF317122}"/>
              </a:ext>
            </a:extLst>
          </p:cNvPr>
          <p:cNvCxnSpPr/>
          <p:nvPr/>
        </p:nvCxnSpPr>
        <p:spPr>
          <a:xfrm>
            <a:off x="4661647" y="2474259"/>
            <a:ext cx="18019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FC70229-AAD9-DBDB-C9CF-D970EE1F95B8}"/>
              </a:ext>
            </a:extLst>
          </p:cNvPr>
          <p:cNvSpPr txBox="1"/>
          <p:nvPr/>
        </p:nvSpPr>
        <p:spPr>
          <a:xfrm>
            <a:off x="699247" y="4518212"/>
            <a:ext cx="42492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🛠️ Technologies</a:t>
            </a:r>
          </a:p>
          <a:p>
            <a:r>
              <a:rPr lang="en-US"/>
              <a:t>Spark / Databricks → Heavy preprocessing</a:t>
            </a:r>
          </a:p>
          <a:p>
            <a:r>
              <a:rPr lang="en-US"/>
              <a:t>BigQuery → Query serving 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494C50-2AD7-52C8-209A-D8A476D833AA}"/>
              </a:ext>
            </a:extLst>
          </p:cNvPr>
          <p:cNvSpPr txBox="1"/>
          <p:nvPr/>
        </p:nvSpPr>
        <p:spPr>
          <a:xfrm>
            <a:off x="6992470" y="4518212"/>
            <a:ext cx="49933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🛡️ Validation Data Contracts</a:t>
            </a:r>
            <a:endParaRPr lang="en-US" dirty="0"/>
          </a:p>
          <a:p>
            <a:r>
              <a:rPr lang="en-US" dirty="0"/>
              <a:t>Enforced schemas</a:t>
            </a:r>
          </a:p>
          <a:p>
            <a:r>
              <a:rPr lang="en-US" dirty="0"/>
              <a:t>Type guarantees</a:t>
            </a:r>
          </a:p>
          <a:p>
            <a:r>
              <a:rPr lang="en-US" dirty="0"/>
              <a:t>Backward compatibility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2248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08CA3-E001-AB64-1E5B-0D103A37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963" y="-107844"/>
            <a:ext cx="10058400" cy="1450757"/>
          </a:xfrm>
        </p:spPr>
        <p:txBody>
          <a:bodyPr/>
          <a:lstStyle/>
          <a:p>
            <a:r>
              <a:rPr lang="en-IN" dirty="0"/>
              <a:t>         Storage Strategy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458939-A2F5-C3C6-D474-2A2BFA5B0A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98957"/>
              </p:ext>
            </p:extLst>
          </p:nvPr>
        </p:nvGraphicFramePr>
        <p:xfrm>
          <a:off x="1894822" y="1721224"/>
          <a:ext cx="10058400" cy="3021108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1382221017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564765632"/>
                    </a:ext>
                  </a:extLst>
                </a:gridCol>
              </a:tblGrid>
              <a:tr h="755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739370"/>
                  </a:ext>
                </a:extLst>
              </a:tr>
              <a:tr h="755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Materialized Views (fast dashboards)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812338"/>
                  </a:ext>
                </a:extLst>
              </a:tr>
              <a:tr h="755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Partitioned analytical 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460115"/>
                  </a:ext>
                </a:extLst>
              </a:tr>
              <a:tr h="755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Raw historical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2038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31C944-475C-EA0C-35F6-49EBE25C8ABC}"/>
              </a:ext>
            </a:extLst>
          </p:cNvPr>
          <p:cNvSpPr txBox="1"/>
          <p:nvPr/>
        </p:nvSpPr>
        <p:spPr>
          <a:xfrm>
            <a:off x="466164" y="4742332"/>
            <a:ext cx="617668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📦 Storage Format Parquet</a:t>
            </a:r>
            <a:endParaRPr lang="en-US" sz="2400" dirty="0"/>
          </a:p>
          <a:p>
            <a:r>
              <a:rPr lang="en-US" dirty="0"/>
              <a:t>1. Columnar storage</a:t>
            </a:r>
          </a:p>
          <a:p>
            <a:r>
              <a:rPr lang="en-US" dirty="0"/>
              <a:t>2.Compression</a:t>
            </a:r>
          </a:p>
          <a:p>
            <a:r>
              <a:rPr lang="en-US" dirty="0"/>
              <a:t>3.Predicate pushdown</a:t>
            </a:r>
          </a:p>
          <a:p>
            <a:r>
              <a:rPr lang="en-US" dirty="0"/>
              <a:t>4.Lower scan cost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6365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13BAD-A4F1-43EB-8FAC-758D7830A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Retrieval Engine (The “Brain”)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531CE-9734-F6EA-A769-FFF6103C5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Two-Step Retrieval Mechanism</a:t>
            </a:r>
          </a:p>
          <a:p>
            <a:r>
              <a:rPr lang="en-IN" b="1" dirty="0"/>
              <a:t>Step 1: Schema Retrieval</a:t>
            </a:r>
            <a:endParaRPr lang="en-IN" dirty="0"/>
          </a:p>
          <a:p>
            <a:r>
              <a:rPr lang="en-IN" dirty="0"/>
              <a:t>Identify relevant tables &amp; columns</a:t>
            </a:r>
          </a:p>
          <a:p>
            <a:r>
              <a:rPr lang="en-IN" b="1" dirty="0"/>
              <a:t>Step 2: Few-Shot SQL Retrieval</a:t>
            </a:r>
            <a:endParaRPr lang="en-IN" dirty="0"/>
          </a:p>
          <a:p>
            <a:r>
              <a:rPr lang="en-IN" dirty="0"/>
              <a:t>Retrieve similar past SQL patterns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BEFB54-AF07-EF0F-AFBE-99D5F8782DD8}"/>
              </a:ext>
            </a:extLst>
          </p:cNvPr>
          <p:cNvSpPr txBox="1"/>
          <p:nvPr/>
        </p:nvSpPr>
        <p:spPr>
          <a:xfrm>
            <a:off x="6822141" y="4701989"/>
            <a:ext cx="44285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🧠 Tools Used</a:t>
            </a:r>
          </a:p>
          <a:p>
            <a:r>
              <a:rPr lang="en-US" dirty="0"/>
              <a:t>1-&gt;FAISS vector database</a:t>
            </a:r>
          </a:p>
          <a:p>
            <a:r>
              <a:rPr lang="en-US" dirty="0"/>
              <a:t>2-&gt;Schema descriptions as embeddings</a:t>
            </a:r>
          </a:p>
        </p:txBody>
      </p:sp>
    </p:spTree>
    <p:extLst>
      <p:ext uri="{BB962C8B-B14F-4D97-AF65-F5344CB8AC3E}">
        <p14:creationId xmlns:p14="http://schemas.microsoft.com/office/powerpoint/2010/main" val="3985175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65168-7944-928B-F580-DFF1489EE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Why Metadata RAG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8D41F-F49C-7F12-38A7-26A104B52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100" b="1" dirty="0"/>
              <a:t>🚀 Benefits</a:t>
            </a:r>
          </a:p>
          <a:p>
            <a:r>
              <a:rPr lang="en-US" dirty="0"/>
              <a:t>1.No full data scan</a:t>
            </a:r>
          </a:p>
          <a:p>
            <a:r>
              <a:rPr lang="en-US" dirty="0"/>
              <a:t>2.Minimal warehouse cost</a:t>
            </a:r>
          </a:p>
          <a:p>
            <a:r>
              <a:rPr lang="en-US" dirty="0"/>
              <a:t>3.High accuracy SQL</a:t>
            </a:r>
          </a:p>
          <a:p>
            <a:r>
              <a:rPr lang="en-US" dirty="0"/>
              <a:t>4.No hallucinations</a:t>
            </a:r>
          </a:p>
          <a:p>
            <a:r>
              <a:rPr lang="en-US" b="1" dirty="0"/>
              <a:t>🧠 LLM Responsibility</a:t>
            </a:r>
          </a:p>
          <a:p>
            <a:r>
              <a:rPr lang="en-US" dirty="0"/>
              <a:t>1.Reason about </a:t>
            </a:r>
            <a:r>
              <a:rPr lang="en-US" i="1" dirty="0"/>
              <a:t>structure</a:t>
            </a:r>
            <a:endParaRPr lang="en-US" dirty="0"/>
          </a:p>
          <a:p>
            <a:r>
              <a:rPr lang="en-US" dirty="0"/>
              <a:t>2.Not about </a:t>
            </a:r>
            <a:r>
              <a:rPr lang="en-US" i="1" dirty="0"/>
              <a:t>raw data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4634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40636-A876-8568-1961-933FE03DE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Orchestration &amp;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90701-A422-FD8C-9AE4-F7FF689DF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400" dirty="0"/>
              <a:t>Cost &amp; Performance Optimization</a:t>
            </a:r>
          </a:p>
          <a:p>
            <a:r>
              <a:rPr lang="en-IN" sz="1800" b="1" dirty="0"/>
              <a:t>Semantic Cache (Redis)</a:t>
            </a:r>
            <a:endParaRPr lang="en-IN" sz="1800" dirty="0"/>
          </a:p>
          <a:p>
            <a:r>
              <a:rPr lang="en-IN" sz="1800" dirty="0"/>
              <a:t>1.Cache question → SQL → result</a:t>
            </a:r>
          </a:p>
          <a:p>
            <a:r>
              <a:rPr lang="en-IN" sz="1800" dirty="0"/>
              <a:t>2.Identical questions return instantly</a:t>
            </a:r>
          </a:p>
          <a:p>
            <a:r>
              <a:rPr lang="en-IN" sz="1800" dirty="0"/>
              <a:t>3.Zero LLM &amp; warehouse cost</a:t>
            </a:r>
          </a:p>
          <a:p>
            <a:r>
              <a:rPr lang="en-US" sz="2400" b="1" dirty="0"/>
              <a:t>🔐 Safety Controls</a:t>
            </a:r>
          </a:p>
          <a:p>
            <a:r>
              <a:rPr lang="en-US" sz="1700" dirty="0"/>
              <a:t>1.Read-only SQL credentials</a:t>
            </a:r>
          </a:p>
          <a:p>
            <a:r>
              <a:rPr lang="en-US" sz="1700" dirty="0"/>
              <a:t>2.Query validation before execution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60068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7E4B9-9140-AC88-881D-CE33FE707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Evaluation &amp;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7B5A0-3A8A-9F41-D707-0A5EB75D7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📏 Accuracy Metrics</a:t>
            </a:r>
          </a:p>
          <a:p>
            <a:r>
              <a:rPr lang="en-IN" sz="1800" dirty="0"/>
              <a:t>1.User feedback (👍 / 👎)</a:t>
            </a:r>
          </a:p>
          <a:p>
            <a:r>
              <a:rPr lang="en-IN" sz="1800" dirty="0"/>
              <a:t>2.Query execution success rate</a:t>
            </a:r>
          </a:p>
          <a:p>
            <a:r>
              <a:rPr lang="en-IN" sz="2400" b="1" dirty="0"/>
              <a:t>⏱️ Performance Metrics</a:t>
            </a:r>
          </a:p>
          <a:p>
            <a:r>
              <a:rPr lang="en-IN" dirty="0"/>
              <a:t>1.Time to First Token (LLM)</a:t>
            </a:r>
          </a:p>
          <a:p>
            <a:r>
              <a:rPr lang="en-IN" dirty="0"/>
              <a:t>2.SQL Execution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1725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FA1E9-E563-4F46-08C6-5FD4FA11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Intelligent Fallback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20CFA-03C3-E280-F4B9-E9987254C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⚠️ Low Confidence Handling</a:t>
            </a:r>
          </a:p>
          <a:p>
            <a:r>
              <a:rPr lang="en-US" dirty="0"/>
              <a:t>Instead of guessing:</a:t>
            </a:r>
          </a:p>
          <a:p>
            <a:r>
              <a:rPr lang="en-US" dirty="0"/>
              <a:t>“Did you mean Revenue for 2024 or 2025?”</a:t>
            </a:r>
          </a:p>
          <a:p>
            <a:r>
              <a:rPr lang="en-US" b="1" dirty="0"/>
              <a:t>Respond with a common result from db.</a:t>
            </a:r>
            <a:endParaRPr lang="en-US" dirty="0"/>
          </a:p>
          <a:p>
            <a:r>
              <a:rPr lang="en-US" dirty="0"/>
              <a:t>1.Higher trust</a:t>
            </a:r>
          </a:p>
          <a:p>
            <a:r>
              <a:rPr lang="en-US" dirty="0"/>
              <a:t>2.Fewer errors</a:t>
            </a:r>
          </a:p>
          <a:p>
            <a:r>
              <a:rPr lang="en-US" dirty="0"/>
              <a:t>3.Better UX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4285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84CE8-33A0-57EB-5066-E410602F2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Why This Architecture Scales?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2C982-03E8-34F2-9BF8-A21D490FE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b="1" dirty="0"/>
              <a:t>✅ Key Strengths</a:t>
            </a:r>
          </a:p>
          <a:p>
            <a:endParaRPr lang="en-IN" sz="2800" b="1" dirty="0"/>
          </a:p>
          <a:p>
            <a:r>
              <a:rPr lang="en-IN" sz="2000" dirty="0"/>
              <a:t>✔ SQL-first analytics</a:t>
            </a:r>
            <a:br>
              <a:rPr lang="en-IN" sz="2000" dirty="0"/>
            </a:br>
            <a:r>
              <a:rPr lang="en-IN" sz="2000" dirty="0"/>
              <a:t>✔ Metadata-driven retrieval</a:t>
            </a:r>
            <a:br>
              <a:rPr lang="en-IN" sz="2000" dirty="0"/>
            </a:br>
            <a:r>
              <a:rPr lang="en-IN" sz="2000" dirty="0"/>
              <a:t>✔ Cloud-native compute</a:t>
            </a:r>
            <a:br>
              <a:rPr lang="en-IN" sz="2000" dirty="0"/>
            </a:br>
            <a:r>
              <a:rPr lang="en-IN" sz="2000" dirty="0"/>
              <a:t>✔ Cost-controlled LLM usage</a:t>
            </a:r>
            <a:br>
              <a:rPr lang="en-IN" sz="2000" dirty="0"/>
            </a:br>
            <a:r>
              <a:rPr lang="en-IN" sz="2000" dirty="0"/>
              <a:t>✔ Enterprise-ready security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520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47FD8-A73F-9B69-3351-9D9221563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Final 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2BF7DB-8CD7-5D1D-F01A-5651B7BD33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9327" y="2154052"/>
            <a:ext cx="791224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LLMs are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 engines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databases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Warehouses handle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 &amp; accuracy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Metadata RAG bridges GenAI and Big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 is production-ready and extensible</a:t>
            </a:r>
          </a:p>
        </p:txBody>
      </p:sp>
    </p:spTree>
    <p:extLst>
      <p:ext uri="{BB962C8B-B14F-4D97-AF65-F5344CB8AC3E}">
        <p14:creationId xmlns:p14="http://schemas.microsoft.com/office/powerpoint/2010/main" val="1377042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A5E79-4635-534A-4F34-A4F88D7A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/>
              <a:t>         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98186-A986-DEFF-7DB2-CA25766C2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7200" dirty="0"/>
              <a:t>📊Retail Insights Assistant</a:t>
            </a:r>
          </a:p>
          <a:p>
            <a:r>
              <a:rPr lang="en-IN" sz="4000" dirty="0"/>
              <a:t>&gt;&gt;Scalable GenAI-Powered Analytics System</a:t>
            </a:r>
            <a:endParaRPr lang="en-US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73472099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{63222510-EFD8-4E97-A578-890CCA681265}TFf0a5ceae-4542-492d-822e-d65a94fb0e1e3b562c5a_win32-009a0557e699</Template>
  <TotalTime>100</TotalTime>
  <Words>640</Words>
  <Application>Microsoft Office PowerPoint</Application>
  <PresentationFormat>Widescreen</PresentationFormat>
  <Paragraphs>144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Bookman Old Style</vt:lpstr>
      <vt:lpstr>Calibri</vt:lpstr>
      <vt:lpstr>Franklin Gothic Book</vt:lpstr>
      <vt:lpstr>Custom</vt:lpstr>
      <vt:lpstr>📊Retail Insights Assistant</vt:lpstr>
      <vt:lpstr>🎯 Goal : Enable natural language querying on enterprise-scale datasets (100GB+) without:</vt:lpstr>
      <vt:lpstr>🚫 Why Traditional Approaches Fail: MVP Limitations (Pandas / Local Processing)</vt:lpstr>
      <vt:lpstr>🏗️ High-Level Architecture: System Flow-&gt;</vt:lpstr>
      <vt:lpstr>          Proposed Technology Stack  🧱 Architecture Stack:</vt:lpstr>
      <vt:lpstr>           Core Technical Solution</vt:lpstr>
      <vt:lpstr>         Storage Strategy</vt:lpstr>
      <vt:lpstr>The Retrieval Engine (The “Brain”)</vt:lpstr>
      <vt:lpstr>    Why Metadata RAG Works</vt:lpstr>
      <vt:lpstr>   Orchestration &amp; Optimization</vt:lpstr>
      <vt:lpstr>     Evaluation &amp; Monitoring</vt:lpstr>
      <vt:lpstr>   Intelligent Fallback Strategy</vt:lpstr>
      <vt:lpstr>   Why This Architecture Scales?</vt:lpstr>
      <vt:lpstr>         Final Takeaways</vt:lpstr>
      <vt:lpstr>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Yadav</dc:creator>
  <cp:lastModifiedBy>Abhishek Yadav</cp:lastModifiedBy>
  <cp:revision>14</cp:revision>
  <dcterms:created xsi:type="dcterms:W3CDTF">2026-01-14T17:31:21Z</dcterms:created>
  <dcterms:modified xsi:type="dcterms:W3CDTF">2026-01-15T04:57:06Z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